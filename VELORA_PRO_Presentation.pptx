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137160" cy="3200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38BDF8"/>
                </a:solidFill>
                <a:latin typeface="Trebuchet MS"/>
              </a:defRPr>
            </a:pPr>
            <a:r>
              <a:t>VELORA PRO</a:t>
            </a:r>
          </a:p>
          <a:p>
            <a:pPr>
              <a:spcBef>
                <a:spcPts val="10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La Révolution du Field Service Management (FSM)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Système d'Excellence Opérationnelle de WAYCON Méditerranée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B82F6"/>
                </a:solidFill>
                <a:latin typeface="Segoe UI"/>
              </a:defRPr>
            </a:pPr>
            <a:r>
              <a:t>Version 2.4 (Enterprise Edition)  |  Édition 2026</a:t>
            </a:r>
            <a:br/>
            <a:r>
              <a:t>WAYCON 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Trebuchet MS"/>
              </a:defRPr>
            </a:pPr>
            <a:r>
              <a:t>POURQUOI VELORA PRO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Remplacer le chaos opérationnel par la maîtrise absolue.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87171"/>
                </a:solidFill>
                <a:latin typeface="Trebuchet MS"/>
              </a:defRPr>
            </a:pPr>
            <a:r>
              <a:t>LE CHAOS OPÉRATIONNEL (AVANT)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Dispersion de l'information : Rapports égarés, photos perdues sur WhatsApp, fichiers Excel obsolètes.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Retards de SLA invisibles : Pénalités financières découvertes tardivement suite à des dépassements de délais.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Lenteurs de facturation : Jusqu'à 5 jours d'attente entre l'intervention physique et l'édition du devis/facture.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Méfiance client : Manque d'historique transparent et traçabilité nulle sur les machines d'importance.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L'EXCELLENCE NUMÉRIQUE (AVÈNEMENT)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Unification centrale : Une base unique reliant Direction, Commerciaux, Chefs de Projet, Techniciens et Clients.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SLA Engine temps réel : Détection instantanée des risques de retard via des notifications WebSockets colorées.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Facturation J+0 : Génération automatique des devis et PV de fin de travaux directement depuis la mémoire client.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Portail Client Premium : Visuels magnifiques avec Glassmorphism qui augmentent la rétention client.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Trebuchet MS"/>
              </a:defRPr>
            </a:pPr>
            <a:r>
              <a:t>UNE SUITE MODULAIRE COMPLÈTE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21 modules NestJS orchestrés pour couvrir 100% de notre activité.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328416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WORKFLOWS ITSM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Interventions : Cycle complet des tickets.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SLA Engine : Alertes de délais.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Squads : Organisation en escouades.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Comments &amp; Docs : Notes et pièces jointes.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920240"/>
            <a:ext cx="3328416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10312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PROJETS &amp; PLANIFICATION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Projects : Planification de chantiers.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Phases : Découpe en jalons calculés.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Kanban Board : Suivi visuel des tâches.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PPM Planner : Maintenance préventive auto.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920240"/>
            <a:ext cx="3328416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210312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4ADE80"/>
                </a:solidFill>
                <a:latin typeface="Trebuchet MS"/>
              </a:defRPr>
            </a:pPr>
            <a:r>
              <a:t>MOTEUR COLLABORATIF &amp; FINANCES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Invoices &amp; Contracts : Devis &amp; Factures.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Purchase Requests : Circuit d'approbations.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Meetings : PV automatiques et visio.</a:t>
            </a:r>
          </a:p>
          <a:p>
            <a:pPr>
              <a:spcAft>
                <a:spcPts val="14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AuditLog &amp; Backup : Sécurisation légale BDD.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Trebuchet MS"/>
              </a:defRPr>
            </a:pPr>
            <a:r>
              <a:t>VALEUR COMMERCIALE &amp; IMAGE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Séduire vos clients B2B et verrouiller leur fidélité.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657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38BDF8"/>
                </a:solidFill>
                <a:latin typeface="Trebuchet MS"/>
              </a:defRPr>
            </a:pPr>
            <a:r>
              <a:t>100%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DE TRANSPARENCE CLIENT</a:t>
            </a:r>
            <a:br/>
            <a:br/>
            <a:r>
              <a:t>Augmentez la rétention de vos contrats B2B et justifiez vos tarifs d'abonnements.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6748272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2011680"/>
            <a:ext cx="62910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LES PLUS COMMERCIAUX DE VELORA</a:t>
            </a:r>
          </a:p>
          <a:p>
            <a:pPr>
              <a:spcAft>
                <a:spcPts val="12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✔ Portail Client Glassmorphism : </a:t>
            </a:r>
            <a:r>
              <a:rPr>
                <a:solidFill>
                  <a:srgbClr val="CBD5E1"/>
                </a:solidFill>
              </a:rPr>
              <a:t>Vos clients disposent d'un espace web privé magnifique pour soumettre leurs pannes et suivre en direct l'état des techniciens.</a:t>
            </a:r>
          </a:p>
          <a:p>
            <a:pPr>
              <a:spcAft>
                <a:spcPts val="12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✔ Facturation et Devis Ultra-Rapides : </a:t>
            </a:r>
            <a:r>
              <a:rPr>
                <a:solidFill>
                  <a:srgbClr val="CBD5E1"/>
                </a:solidFill>
              </a:rPr>
              <a:t>L'algorithme exporte devis et PV de fin de travaux directement depuis la mémoire du navigateur, sans attendre de temps serveur.</a:t>
            </a:r>
          </a:p>
          <a:p>
            <a:pPr>
              <a:spcAft>
                <a:spcPts val="12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✔ Budget Contrat Réconcilié : </a:t>
            </a:r>
            <a:r>
              <a:rPr>
                <a:solidFill>
                  <a:srgbClr val="CBD5E1"/>
                </a:solidFill>
              </a:rPr>
              <a:t>Chaque ticket de maintenance consomme automatiquement le budget d'heures SLA alloué dans le contrat, éliminant les fraudes ou les oublis.</a:t>
            </a:r>
          </a:p>
          <a:p>
            <a:pPr>
              <a:spcAft>
                <a:spcPts val="12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✔ Valorisation de l'Expertise WAYCON : </a:t>
            </a:r>
            <a:r>
              <a:rPr>
                <a:solidFill>
                  <a:srgbClr val="CBD5E1"/>
                </a:solidFill>
              </a:rPr>
              <a:t>Montrez à vos prospects une interface moderne qui certifie votre supériorité opérationnelle locale en Tunisie.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Trebuchet MS"/>
              </a:defRPr>
            </a:pPr>
            <a:r>
              <a:t>EFFICACITÉ OPÉRATIONNELLE : PROJETS &amp;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Simplifier le dispatch des planificateurs et le travail des techniciens.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B82F6"/>
                </a:solidFill>
                <a:latin typeface="Trebuchet MS"/>
              </a:defRPr>
            </a:pPr>
            <a:r>
              <a:t>CÔTÉ PLANIFICATION (CHEFS DE PROJETS)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Planification en phases : Visualisation précise de l'avancement chronologique de chantiers complexes (Fibre Optique, Câblages).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Tableau Kanban interactif : Changement de statut des tâches par simple glisser-déposer visuel.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Gestion par Escouades (Squads) : Regroupement de techniciens avec un responsable attitré par spécialisation.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Alarme SLA proactive : Des notifications WebSocket colorées alertent en cas de risque imminent de pénalité.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CÔTÉ CHANTIER (TECHNICIENS)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✔ Zéro Papier : Feuille de route, localisation GPS du site et détails de la panne sur mobile.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✔ Scan QR Code Intelligent : Un simple scan d'équipement ouvre instantanément l'historique et la garantie de la machine.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✔ Signature Tactile Client : Validation de fin de travaux directement avec le doigt sur l'écran du technicien.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✔ Pièces jointes multimédias : Upload de photos du chantier comme preuve irréfutable de résolution (limite 10 Mo).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Trebuchet MS"/>
              </a:defRPr>
            </a:pPr>
            <a:r>
              <a:t>SÉCURITÉ INFORMATIQUE &amp; STABILITÉ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La sérénité d'un outil souverain, robuste et auto-hébergé.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6748272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2910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DES FONDATIONS ROBUSTES &amp; MODERNES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Hébergement Souverain : </a:t>
            </a:r>
            <a:r>
              <a:rPr>
                <a:solidFill>
                  <a:srgbClr val="FFFFFF"/>
                </a:solidFill>
              </a:rPr>
              <a:t>Aucun frais SaaS récurrent. VELORA s'auto-héberge localement sur votre infrastructure locale. Vos données contractuelles restent chez vous.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Architecture NestJS / React 19 : </a:t>
            </a:r>
            <a:r>
              <a:rPr>
                <a:solidFill>
                  <a:srgbClr val="FFFFFF"/>
                </a:solidFill>
              </a:rPr>
              <a:t>Faible latence (temps de réponse backend &lt; 50ms) et gestion d'état frontend ultra-rapide par Zustand.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Intégrité Prisma &amp; MySQL : </a:t>
            </a:r>
            <a:r>
              <a:rPr>
                <a:solidFill>
                  <a:srgbClr val="FFFFFF"/>
                </a:solidFill>
              </a:rPr>
              <a:t>Structure relationnelle stricte à 14 tables. Les cascades de suppression évitent les fichiers orphelins sur le serveur.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Journal de Logs d'Audit Forensics : </a:t>
            </a:r>
            <a:r>
              <a:rPr>
                <a:solidFill>
                  <a:srgbClr val="FFFFFF"/>
                </a:solidFill>
              </a:rPr>
              <a:t>Chaque action (CREATE, UPDATE, DELETE) est enregistrée avec diff JSON, adresse IP et ID de l'opérateur pour un contrôle qualité total.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45552" y="1828800"/>
            <a:ext cx="36576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28431" y="201168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PLAN DE SAUVEGARDE AUTO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✔ Sauvegarde quotidienne automatisée à 3h00 du matin via des Cron Jobs.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✔ Compression de niveau 9 incluant le Dump de la base SQL + les fichiers uploads du terrain.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✔ Metadata JSON intégrée dans l'archive pour la traçabilité.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✔ Politique de rétention de 7 jours glissants pour ne pas saturer l'espace disque.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Trebuchet MS"/>
              </a:defRPr>
            </a:pPr>
            <a:r>
              <a:t>SCÉNARIO DE DÉMONSTRATION EN DIRECT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Vivre la vélocité opérationnelle en 3 étapes clés.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328416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F87171"/>
                </a:solidFill>
                <a:latin typeface="Trebuchet MS"/>
              </a:defRPr>
            </a:pPr>
            <a:r>
              <a:t>1. LA DEMANDE CLIENT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Connexion avec l'espace client : client@commune-sousse.tn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Création en direct d'un ticket pour panne du climatiseur central.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Affichage immédiat sur le portail.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920240"/>
            <a:ext cx="3328416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576" y="21031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56032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38BDF8"/>
                </a:solidFill>
                <a:latin typeface="Trebuchet MS"/>
              </a:defRPr>
            </a:pPr>
            <a:r>
              <a:t>2. LE DISPATCHING ADMIN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Changement vers la console administrateur : admin@waycon.com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Notification sonore WebSocket en direct sur l'écran central.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Assignation du ticket en 2 clics à Ahmed Technicien.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920240"/>
            <a:ext cx="3328416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48472" y="210312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56032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4ADE80"/>
                </a:solidFill>
                <a:latin typeface="Trebuchet MS"/>
              </a:defRPr>
            </a:pPr>
            <a:r>
              <a:t>3. LA RÉSOLUTION TERRAIN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Connexion mobile du technicien : tech@waycon.com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Ahmed simule la réparation et fait signer le client sur l'écran tactile.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Téléchargement du rapport final PDF généré sur 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Trebuchet MS"/>
              </a:defRPr>
            </a:pPr>
            <a:r>
              <a:t>USAGES MÉTIERS &amp; RETOMBÉES ATTENDUES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Gains chiffrés immédiats pour l'ensemble du groupe WAYCON.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DOMAINES D'APPLICATIONS CIBLES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✔ Facilities Management : Climatisation, Éclairage public, Maintenance des locaux et infrastructures.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✔ Maintenance Industrielle : Tournées PPM programmées pour les machines d'usine.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✔ Télécoms &amp; Chantiers : Déploiement de réseaux et tirage de câbles structurés en phases.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✔ Contrats avec SLAs stricts : Services clients B2B avec pénalités financières de temps.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4ADE80"/>
                </a:solidFill>
                <a:latin typeface="Trebuchet MS"/>
              </a:defRPr>
            </a:pPr>
            <a:r>
              <a:t>LES RÉSULTATS CHIFFRÉS DÉPLOYÉS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300">
                <a:solidFill>
                  <a:srgbClr val="38BDF8"/>
                </a:solidFill>
              </a:rPr>
              <a:t>-35% de temps de résolution (MTTR)
</a:t>
            </a:r>
            <a:r>
              <a:rPr sz="1100">
                <a:solidFill>
                  <a:srgbClr val="CBD5E1"/>
                </a:solidFill>
              </a:rPr>
              <a:t>Les techniciens sont mieux ciblés et guidés.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300">
                <a:solidFill>
                  <a:srgbClr val="38BDF8"/>
                </a:solidFill>
              </a:rPr>
              <a:t>Facturation instantanée à J+0
</a:t>
            </a:r>
            <a:r>
              <a:rPr sz="1100">
                <a:solidFill>
                  <a:srgbClr val="CBD5E1"/>
                </a:solidFill>
              </a:rPr>
              <a:t>Élimine le délai de 5 jours de saisie administrative.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300">
                <a:solidFill>
                  <a:srgbClr val="38BDF8"/>
                </a:solidFill>
              </a:rPr>
              <a:t>Diminution de 90% des breaches de SLA
</a:t>
            </a:r>
            <a:r>
              <a:rPr sz="1100">
                <a:solidFill>
                  <a:srgbClr val="CBD5E1"/>
                </a:solidFill>
              </a:rPr>
              <a:t>Grâce aux alertes prédictives clignotantes.</a:t>
            </a:r>
          </a:p>
          <a:p>
            <a:pPr>
              <a:spcAft>
                <a:spcPts val="1200"/>
              </a:spcAft>
              <a:defRPr>
                <a:latin typeface="Segoe UI"/>
              </a:defRPr>
            </a:pPr>
            <a:r>
              <a:rPr b="1" sz="1300">
                <a:solidFill>
                  <a:srgbClr val="38BDF8"/>
                </a:solidFill>
              </a:rPr>
              <a:t>100% d'élimination de la paperasse
</a:t>
            </a:r>
            <a:r>
              <a:rPr sz="1100">
                <a:solidFill>
                  <a:srgbClr val="CBD5E1"/>
                </a:solidFill>
              </a:rPr>
              <a:t>Zéro double saisie pour les équipes de terrain.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